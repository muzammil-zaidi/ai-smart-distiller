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6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933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7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71A"/>
          </a:solidFill>
          <a:ln w="12700">
            <a:solidFill>
              <a:srgbClr val="0707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0D0D30"/>
          </a:solidFill>
          <a:ln w="12700">
            <a:solidFill>
              <a:srgbClr val="0D0D3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029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5A6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FAST-NUCES  ·  ARTIFICIAL INTELLIGENCE  ·  SPRING 2026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Smart-Distiller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20040" y="1920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Workflow Automator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2004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· Structure · Automate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3154680"/>
            <a:ext cx="4114800" cy="0"/>
          </a:xfrm>
          <a:prstGeom prst="line">
            <a:avLst/>
          </a:prstGeom>
          <a:noFill/>
          <a:ln w="12700">
            <a:solidFill>
              <a:srgbClr val="2A2A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329184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Ghulam Mujtaba Qureshi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Syed Muhammad Muzammil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Muzammil Ali (Lead)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2075688"/>
            <a:ext cx="1188720" cy="1383436"/>
          </a:xfrm>
          <a:prstGeom prst="rect">
            <a:avLst/>
          </a:prstGeom>
          <a:solidFill>
            <a:srgbClr val="1A1A3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0" y="253288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029200" y="21031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46520" y="2103120"/>
            <a:ext cx="1188720" cy="1356004"/>
          </a:xfrm>
          <a:prstGeom prst="rect">
            <a:avLst/>
          </a:prstGeom>
          <a:solidFill>
            <a:srgbClr val="1A1A3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2532888"/>
            <a:ext cx="1188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446520" y="21031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Pages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863840" y="2129345"/>
            <a:ext cx="1188720" cy="1280160"/>
          </a:xfrm>
          <a:prstGeom prst="rect">
            <a:avLst/>
          </a:prstGeom>
          <a:solidFill>
            <a:srgbClr val="1A1A3E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863840" y="25603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863840" y="21031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APIs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0040" y="477316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A4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Instructor: Atif </a:t>
            </a:r>
            <a:r>
              <a:rPr lang="en-US" sz="900" dirty="0" err="1">
                <a:solidFill>
                  <a:srgbClr val="3A4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Luqman</a:t>
            </a:r>
            <a:r>
              <a:rPr lang="en-US" sz="900" dirty="0">
                <a:solidFill>
                  <a:srgbClr val="3A4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0F6B"/>
          </a:solidFill>
          <a:ln w="12700">
            <a:solidFill>
              <a:srgbClr val="0F0F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real-world challenge this project solves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01168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4114800" cy="347472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97280"/>
            <a:ext cx="4114800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155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AI Smart-Distiller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Read 3–4 pages of notes manually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0116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Hunt for every deadline and task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4505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Type data into spreadsheets by hand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88950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Draft and email summary to teammates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3284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~45 minutes per document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7673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Error-prone and repetitive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097280"/>
            <a:ext cx="4114800" cy="347472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097280"/>
            <a:ext cx="4114800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1155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AI Smart-Distiller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00600" y="15727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Paste text — 10 seconds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0116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extracts summary + tasks + dates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24505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Google Sheets updated automatically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00600" y="288950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Email report sent automatically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33284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&lt; 30 seconds total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37673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Consistent and accurate every time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53128" y="2834640"/>
            <a:ext cx="256032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07408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200400" y="46634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faster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0F6B"/>
          </a:solidFill>
          <a:ln w="12700">
            <a:solidFill>
              <a:srgbClr val="0F0F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set out to build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01168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9728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27432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338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Multi-Page 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499616"/>
            <a:ext cx="2560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professional 4-page Streamlit app with consistent navigation and dark UI theme.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0" y="109728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97280"/>
            <a:ext cx="274320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1338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AI Extraction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0" y="1499616"/>
            <a:ext cx="2560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LLM-based structured data extraction using </a:t>
            </a:r>
            <a:r>
              <a:rPr lang="en-US" sz="950" dirty="0" smtClean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r>
              <a:rPr lang="en-US" sz="950" dirty="0" smtClean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lama-3.3-70b-versatile </a:t>
            </a: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prompt engineering.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97280"/>
            <a:ext cx="274320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11338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JSON Output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0" y="1499616"/>
            <a:ext cx="2560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 a system prompt that reliably produces machine-parseable JSON with summary, tasks &amp; dates.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92608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926080"/>
            <a:ext cx="274320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9626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Google Sheets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3328416"/>
            <a:ext cx="2560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directly with Google Sheets API via service account credentials using gspread.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0" y="292608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0" y="2926080"/>
            <a:ext cx="274320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9626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Email Automation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91840" y="3328416"/>
            <a:ext cx="2560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Gmail SMTP delivery of formatted HTML email reports via Python's smtplib.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26480" y="292608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2926080"/>
            <a:ext cx="274320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29626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Graceful Degradation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17920" y="3328416"/>
            <a:ext cx="2560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 the app provides clear error messages when API keys are unconfigured.</a:t>
            </a:r>
            <a:endParaRPr lang="en-US" sz="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0F6B"/>
          </a:solidFill>
          <a:ln w="12700">
            <a:solidFill>
              <a:srgbClr val="0F0F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Approach &amp; Methodology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engineering and LLM-based extraction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01168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51560"/>
            <a:ext cx="4297680" cy="374904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429768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6984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Prompt → JSON Output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" y="1463040"/>
            <a:ext cx="4114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"summary":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"2-3 sentence summary.",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"tasks": [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"Action item 1",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"Action item 2"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"deadlines": [{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"date": "May 1, 2026",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"context": "Final report due"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07899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78992"/>
            <a:ext cx="54864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1704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smtClean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llama-3.3-70b-versatile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Cost-effective, strong NLU, 128K context window, reliable JSON output — perfect for structured extraction tasks.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2340864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2340864"/>
            <a:ext cx="54864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24323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vs Keyword Search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27249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 find every date. LLMs understand context — distinguishing a deadline from a historical reference. This is the core AI innovation.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3602736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3602736"/>
            <a:ext cx="54864" cy="1097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36941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Understanding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398678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 self-attention allows the model to resolve references, understand organizational language, and prioritize by relevance, not position.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0F6B"/>
          </a:solidFill>
          <a:ln w="12700">
            <a:solidFill>
              <a:srgbClr val="0F0F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pipeline flows from input to automation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01168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188720"/>
            <a:ext cx="1508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5528" y="1078992"/>
            <a:ext cx="475488" cy="47548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078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47472" y="16276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Input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" y="2011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long-form text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Distiller page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810512" y="192024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993392" y="1188720"/>
            <a:ext cx="1508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14600" y="107899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1078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066544" y="16276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API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66544" y="2011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50" dirty="0" smtClean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1lama-3.3-70b-versatile extracts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JSON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529584" y="192024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712464" y="1188720"/>
            <a:ext cx="1508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233672" y="1078992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33672" y="1078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785616" y="16276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State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785616" y="2011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stored and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displayed in tabs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248656" y="192024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31536" y="1188720"/>
            <a:ext cx="1508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952744" y="1078992"/>
            <a:ext cx="475488" cy="47548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52744" y="1078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504688" y="16276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04688" y="2011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appended via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gspread + Service Acct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967728" y="192024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150608" y="1188720"/>
            <a:ext cx="1508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671816" y="1078992"/>
            <a:ext cx="475488" cy="47548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71816" y="1078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223760" y="16276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Gmail SMTP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23760" y="2011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email sent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smtplib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74320" y="3291840"/>
            <a:ext cx="8595360" cy="16002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57200" y="33649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 Structure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3675888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Home.py  ·  config.py  ·  extractor.py  ·  sheets.py  ·  mailer.py  ·  mock_mode.py  ·  pages/1_Distiller.py  ·  pages/2_Automation.py  ·  pages/3_About.py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0F6B"/>
          </a:solidFill>
          <a:ln w="12700">
            <a:solidFill>
              <a:srgbClr val="0F0F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and libraries powering the system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01168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78992"/>
            <a:ext cx="20116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78992"/>
            <a:ext cx="2011680" cy="4754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4128" y="859536"/>
            <a:ext cx="512064" cy="51206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8595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5910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7472" y="1956816"/>
            <a:ext cx="1865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language for all modules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50592" y="1078992"/>
            <a:ext cx="20116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50592" y="1078992"/>
            <a:ext cx="20116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859536"/>
            <a:ext cx="512064" cy="51206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8595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42032" y="15910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523744" y="1956816"/>
            <a:ext cx="1865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Multi-page web UI framework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26864" y="1078992"/>
            <a:ext cx="20116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26864" y="1078992"/>
            <a:ext cx="2011680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76672" y="859536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76672" y="8595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18304" y="15910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 smtClean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llama-3.3-70b-versatile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700016" y="1956816"/>
            <a:ext cx="1865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NLU &amp; structured JSON extraction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03136" y="1078992"/>
            <a:ext cx="20116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03136" y="1078992"/>
            <a:ext cx="2011680" cy="47548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52944" y="859536"/>
            <a:ext cx="512064" cy="51206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52944" y="8595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94576" y="15910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gspread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876288" y="1956816"/>
            <a:ext cx="1865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 read/write via service account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2953512"/>
            <a:ext cx="20116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2953512"/>
            <a:ext cx="201168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24128" y="2734056"/>
            <a:ext cx="512064" cy="5120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24128" y="2734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65760" y="346557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google-auth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47472" y="3831336"/>
            <a:ext cx="1865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OAuth2 service account authentication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450592" y="2953512"/>
            <a:ext cx="20116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450592" y="2953512"/>
            <a:ext cx="2011680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2734056"/>
            <a:ext cx="512064" cy="51206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0" y="2734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42032" y="346557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smtplib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23744" y="3831336"/>
            <a:ext cx="1865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Gmail SMTP email delivery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26864" y="2953512"/>
            <a:ext cx="20116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626864" y="2953512"/>
            <a:ext cx="201168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376672" y="2734056"/>
            <a:ext cx="512064" cy="51206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76672" y="2734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718304" y="346557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Awesome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700016" y="3831336"/>
            <a:ext cx="1865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icons loaded via CDN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03136" y="2953512"/>
            <a:ext cx="201168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803136" y="2953512"/>
            <a:ext cx="2011680" cy="47548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52944" y="2734056"/>
            <a:ext cx="512064" cy="512064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52944" y="2734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Gf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894576" y="346557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Fonts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876288" y="3831336"/>
            <a:ext cx="1865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Sora + JetBrains Mono typography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0F6B"/>
          </a:solidFill>
          <a:ln w="12700">
            <a:solidFill>
              <a:srgbClr val="0F0F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&amp; Evaluation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system achieves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01168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05840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789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30 sec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74320" y="15727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Pipeline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document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005840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46120" y="10789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46120" y="15727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4612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manual process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17920" y="1005840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0789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APIs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217920" y="15727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Automation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Sheets + Gmail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331720"/>
            <a:ext cx="55778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331720"/>
            <a:ext cx="5577840" cy="347472"/>
          </a:xfrm>
          <a:prstGeom prst="rect">
            <a:avLst/>
          </a:prstGeom>
          <a:solidFill>
            <a:srgbClr val="0F0F6B"/>
          </a:solidFill>
          <a:ln w="12700">
            <a:solidFill>
              <a:srgbClr val="0F0F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235000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Outcomes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" y="2761488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correctly extracts summary, tasks and deadlines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1480" y="3108960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Tasks found including implicit items not in numbered lists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" y="3456432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Deadlines distinguished from historical date references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3803904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Google Sheet row appended within 1–2 seconds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4151376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HTML email delivered within 5–15 seconds via Gmail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11480" y="4498848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All 4 pages navigate correctly sharing session state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35040" y="2331720"/>
            <a:ext cx="27889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35040" y="2331720"/>
            <a:ext cx="278892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23500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26480" y="276148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Requires paid OpenAI API credits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26480" y="327355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Google Cloud setup needed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26480" y="378561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Gmail App Password required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0" y="42976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Image-based PDFs not supported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0F6B"/>
          </a:solidFill>
          <a:ln w="12700">
            <a:solidFill>
              <a:srgbClr val="0F0F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— Application Walkthrough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pages · Real AI extraction · Real automation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01168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78992"/>
            <a:ext cx="8549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78992"/>
            <a:ext cx="54864" cy="8046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52728"/>
            <a:ext cx="457200" cy="457200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252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1170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1: 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481328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with feature cards, navigation links, and live system status indicators for all APIs.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039112"/>
            <a:ext cx="8549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039112"/>
            <a:ext cx="54864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2212848"/>
            <a:ext cx="457200" cy="45720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21305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2:  Distiller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2441448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input area with sample text pre-loaded. Run AI extraction → results in Summary / Tasks / Deadlines tabs.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2999232"/>
            <a:ext cx="8549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999232"/>
            <a:ext cx="54864" cy="8046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172968"/>
            <a:ext cx="457200" cy="457200"/>
          </a:xfrm>
          <a:prstGeom prst="ellipse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0584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3:  Automation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3401568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Google Sheets and/or Email, click Run — live status shows each step completing in real time.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4320" y="3959352"/>
            <a:ext cx="8549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959352"/>
            <a:ext cx="54864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133088"/>
            <a:ext cx="457200" cy="457200"/>
          </a:xfrm>
          <a:prstGeom prst="ellipse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5840" y="40507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4:  About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05840" y="4361688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overview, team cards, setup guide for all 3 APIs, and system architecture explanation.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0F6B"/>
          </a:solidFill>
          <a:ln w="12700">
            <a:solidFill>
              <a:srgbClr val="0F0F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 and what we learned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01168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78992"/>
            <a:ext cx="8549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78992"/>
            <a:ext cx="54864" cy="8046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52728"/>
            <a:ext cx="457200" cy="457200"/>
          </a:xfrm>
          <a:prstGeom prst="rect">
            <a:avLst/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252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1170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LLM in Production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481328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Demonstrates real-world use of GPT-4o-mini beyond chatbots — structured JSON extraction via prompt engineering.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039112"/>
            <a:ext cx="8549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039112"/>
            <a:ext cx="54864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2212848"/>
            <a:ext cx="457200" cy="457200"/>
          </a:xfrm>
          <a:prstGeom prst="rect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21305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Automation Pipeline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2441448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displaying AI output — completing the loop with Google Sheets API and Gmail SMTP integration in Python.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2999232"/>
            <a:ext cx="8549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999232"/>
            <a:ext cx="54864" cy="8046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172968"/>
            <a:ext cx="457200" cy="457200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05840" y="3090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Than n8n Middleware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3401568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API integration replaced the originally planned n8n middleware — more reliable, fewer dependencies, deeper technical value.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4320" y="3959352"/>
            <a:ext cx="8549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959352"/>
            <a:ext cx="54864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133088"/>
            <a:ext cx="457200" cy="457200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05840" y="40507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Over Syntactic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05840" y="4361688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LLM-based extraction beats keyword/regex approaches by understanding contextual intent — the core AI contribution of this work.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7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7088"/>
            <a:ext cx="9144000" cy="5143500"/>
          </a:xfrm>
          <a:prstGeom prst="rect">
            <a:avLst/>
          </a:prstGeom>
          <a:solidFill>
            <a:srgbClr val="07071A"/>
          </a:solidFill>
          <a:ln w="12700">
            <a:solidFill>
              <a:srgbClr val="0707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315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Smart-Distiller &amp; Workflow Automator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00400" y="2514600"/>
            <a:ext cx="2743200" cy="0"/>
          </a:xfrm>
          <a:prstGeom prst="line">
            <a:avLst/>
          </a:prstGeom>
          <a:noFill/>
          <a:ln w="12700">
            <a:solidFill>
              <a:srgbClr val="2A2A6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2743200"/>
            <a:ext cx="640080" cy="640080"/>
          </a:xfrm>
          <a:prstGeom prst="ellipse">
            <a:avLst/>
          </a:prstGeom>
          <a:solidFill>
            <a:srgbClr val="1E1E4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8308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GQ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34930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Ghulam Mujtaba Qureshi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378561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24K-0535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" y="4023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 smtClean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</a:t>
            </a:r>
            <a:r>
              <a:rPr lang="en-US" sz="9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Project Lead</a:t>
            </a:r>
            <a:endParaRPr lang="en-US" sz="900" dirty="0"/>
          </a:p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43400" y="2743200"/>
            <a:ext cx="640080" cy="640080"/>
          </a:xfrm>
          <a:prstGeom prst="ellipse">
            <a:avLst/>
          </a:prstGeom>
          <a:solidFill>
            <a:srgbClr val="1E1E4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34930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Syed Muhammad Muzammil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0" y="378561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24K-0887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4023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03720" y="2743200"/>
            <a:ext cx="640080" cy="640080"/>
          </a:xfrm>
          <a:prstGeom prst="ellipse">
            <a:avLst/>
          </a:prstGeom>
          <a:solidFill>
            <a:srgbClr val="1E1E4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17920" y="34930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Muzammil Ali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17920" y="378561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24K-1023 · Lead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17920" y="4023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&amp; API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4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Instructor: Atif Luqman  ·  FAST-NUCES Karachi  ·  Spring 2026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889</Words>
  <Application>Microsoft Office PowerPoint</Application>
  <PresentationFormat>On-screen Show (16:9)</PresentationFormat>
  <Paragraphs>199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Smart-Distiller</dc:title>
  <dc:subject>PptxGenJS Presentation</dc:subject>
  <dc:creator>Group 24K — FAST-NUCES</dc:creator>
  <cp:lastModifiedBy>PMLS</cp:lastModifiedBy>
  <cp:revision>5</cp:revision>
  <dcterms:created xsi:type="dcterms:W3CDTF">2026-04-29T03:58:48Z</dcterms:created>
  <dcterms:modified xsi:type="dcterms:W3CDTF">2026-04-29T04:28:55Z</dcterms:modified>
</cp:coreProperties>
</file>